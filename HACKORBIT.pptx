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iv2xcKb+SlNCkwO8eaEM2Vek0Z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.S. Srehari" userId="5450ce4b304481b5" providerId="LiveId" clId="{7AE779FB-9197-4891-837C-26E6AD2129A6}"/>
    <pc:docChg chg="modSld">
      <pc:chgData name="B.S. Srehari" userId="5450ce4b304481b5" providerId="LiveId" clId="{7AE779FB-9197-4891-837C-26E6AD2129A6}" dt="2026-08-12T03:41:25.472" v="4" actId="1076"/>
      <pc:docMkLst>
        <pc:docMk/>
      </pc:docMkLst>
      <pc:sldChg chg="addSp modSp mod">
        <pc:chgData name="B.S. Srehari" userId="5450ce4b304481b5" providerId="LiveId" clId="{7AE779FB-9197-4891-837C-26E6AD2129A6}" dt="2026-08-12T03:41:25.472" v="4" actId="1076"/>
        <pc:sldMkLst>
          <pc:docMk/>
          <pc:sldMk cId="0" sldId="257"/>
        </pc:sldMkLst>
        <pc:picChg chg="add mod">
          <ac:chgData name="B.S. Srehari" userId="5450ce4b304481b5" providerId="LiveId" clId="{7AE779FB-9197-4891-837C-26E6AD2129A6}" dt="2026-08-12T03:41:25.472" v="4" actId="1076"/>
          <ac:picMkLst>
            <pc:docMk/>
            <pc:sldMk cId="0" sldId="257"/>
            <ac:picMk id="3" creationId="{0FBD56F9-BC10-0DD3-F5FE-38983DBCC6D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4459221" y="1202180"/>
            <a:ext cx="3273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HACKORBIT 2K26</a:t>
            </a:r>
            <a:endParaRPr sz="1600" b="1" i="0" u="none" strike="noStrike" cap="none">
              <a:solidFill>
                <a:srgbClr val="1491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31520" y="2553243"/>
            <a:ext cx="206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92A46"/>
                </a:solidFill>
                <a:latin typeface="Arial"/>
                <a:ea typeface="Arial"/>
                <a:cs typeface="Arial"/>
                <a:sym typeface="Arial"/>
              </a:rPr>
              <a:t>TEAM DETAILS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1347795" y="1846961"/>
            <a:ext cx="1051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92A46"/>
                </a:solidFill>
                <a:latin typeface="Arial"/>
                <a:ea typeface="Arial"/>
                <a:cs typeface="Arial"/>
                <a:sym typeface="Arial"/>
              </a:rPr>
              <a:t>SMART SERVE — Canteen Waste Forecasting</a:t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731520" y="3154680"/>
            <a:ext cx="3474720" cy="2286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32688" y="3310128"/>
            <a:ext cx="307238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TEAM NAME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932688" y="3721608"/>
            <a:ext cx="1473480" cy="2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dirty="0">
                <a:solidFill>
                  <a:srgbClr val="232D3C"/>
                </a:solidFill>
              </a:rPr>
              <a:t>CODETITANS</a:t>
            </a:r>
            <a:endParaRPr sz="1150" b="0" i="0" u="none" strike="noStrike" cap="none" dirty="0">
              <a:solidFill>
                <a:srgbClr val="232D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4389120" y="3154680"/>
            <a:ext cx="3474720" cy="2286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590288" y="3310128"/>
            <a:ext cx="307238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TEAM LEADER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4590288" y="3721608"/>
            <a:ext cx="3072384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RANJITHKUMAR M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7376252IT298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IT</a:t>
            </a:r>
            <a:endParaRPr dirty="0"/>
          </a:p>
        </p:txBody>
      </p:sp>
      <p:sp>
        <p:nvSpPr>
          <p:cNvPr id="93" name="Google Shape;93;p1"/>
          <p:cNvSpPr/>
          <p:nvPr/>
        </p:nvSpPr>
        <p:spPr>
          <a:xfrm>
            <a:off x="8046720" y="3154680"/>
            <a:ext cx="3383280" cy="2286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8247888" y="3310128"/>
            <a:ext cx="298094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TEAM MEMBERS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8247888" y="3721608"/>
            <a:ext cx="298094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SREHARI B S</a:t>
            </a:r>
            <a:br>
              <a:rPr lang="en-US" dirty="0"/>
            </a:br>
            <a:r>
              <a:rPr lang="en-US" dirty="0"/>
              <a:t>POOVENDRA A</a:t>
            </a:r>
            <a:endParaRPr dirty="0"/>
          </a:p>
        </p:txBody>
      </p:sp>
      <p:sp>
        <p:nvSpPr>
          <p:cNvPr id="97" name="Google Shape;97;p1"/>
          <p:cNvSpPr txBox="1"/>
          <p:nvPr/>
        </p:nvSpPr>
        <p:spPr>
          <a:xfrm>
            <a:off x="11109960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9768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pic>
        <p:nvPicPr>
          <p:cNvPr id="98" name="Google Shape;98;p1" descr="C:\Users\New\Downloads\BIT (2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6174" y="87630"/>
            <a:ext cx="10180640" cy="100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/>
        </p:nvSpPr>
        <p:spPr>
          <a:xfrm>
            <a:off x="658368" y="146304"/>
            <a:ext cx="118494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HACKORBIT 2K26</a:t>
            </a:r>
            <a:endParaRPr sz="900" b="1" i="0" u="none" strike="noStrike" cap="none">
              <a:solidFill>
                <a:srgbClr val="1491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640080" y="43891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92A46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658368" y="987552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97687"/>
                </a:solidFill>
                <a:latin typeface="Arial"/>
                <a:ea typeface="Arial"/>
                <a:cs typeface="Arial"/>
                <a:sym typeface="Arial"/>
              </a:rPr>
              <a:t>Define the problem clearly and concisely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731520" y="1417320"/>
            <a:ext cx="6675120" cy="4297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932688" y="1572768"/>
            <a:ext cx="6272783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932688" y="1984248"/>
            <a:ext cx="6272783" cy="358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Food waste in hostel canteens is a hidden, untracked cost — decisions on how much to cook are made by habit, not data.</a:t>
            </a:r>
            <a:b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Over-prepared food is thrown away daily, wasting the mess’s raw-material budget.</a:t>
            </a:r>
            <a:b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Every hostel canteen and mess — the institution absorbs the cost, and the environment absorbs the waste.</a:t>
            </a:r>
            <a:b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Discarded food rots in landfills and generates methane; without records, nobody sees which meals waste the most.</a:t>
            </a:r>
            <a:b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Paper registers, if kept, are rarely reviewed — there’s no historical record, so overproduction is never measured.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7726679" y="1417320"/>
            <a:ext cx="3657600" cy="4297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7927848" y="1572768"/>
            <a:ext cx="32552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VISUAL / EVIDENCE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11109960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97687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BD56F9-BC10-0DD3-F5FE-38983DBCC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848" y="2029968"/>
            <a:ext cx="3255264" cy="32552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/>
          <p:nvPr/>
        </p:nvSpPr>
        <p:spPr>
          <a:xfrm>
            <a:off x="658368" y="146304"/>
            <a:ext cx="118494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HACKORBIT 2K26</a:t>
            </a:r>
            <a:endParaRPr sz="900" b="1" i="0" u="none" strike="noStrike" cap="none">
              <a:solidFill>
                <a:srgbClr val="1491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640080" y="43891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92A46"/>
                </a:solidFill>
                <a:latin typeface="Arial"/>
                <a:ea typeface="Arial"/>
                <a:cs typeface="Arial"/>
                <a:sym typeface="Arial"/>
              </a:rPr>
              <a:t>PROPOSED SOLUTION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658368" y="987552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97687"/>
                </a:solidFill>
                <a:latin typeface="Arial"/>
                <a:ea typeface="Arial"/>
                <a:cs typeface="Arial"/>
                <a:sym typeface="Arial"/>
              </a:rPr>
              <a:t>Explain your idea in one clear flow</a:t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640080" y="1828800"/>
            <a:ext cx="2286000" cy="2103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841247" y="1984248"/>
            <a:ext cx="18836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01  PROBLEM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841247" y="2395728"/>
            <a:ext cx="1883664" cy="138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Waste tracked by habit, not data</a:t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3520440" y="1828800"/>
            <a:ext cx="2286000" cy="2103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3721608" y="1984248"/>
            <a:ext cx="18836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02  SOLUTION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3721608" y="2395728"/>
            <a:ext cx="1883664" cy="138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Smart Serve: a log-and-forecast web app</a:t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6400800" y="1828800"/>
            <a:ext cx="2286000" cy="2103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6601968" y="1984248"/>
            <a:ext cx="18836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03  TECHNOLOGY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6601968" y="2395728"/>
            <a:ext cx="1883664" cy="138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React + Supabase (PostgreSQL) + Chart.js, with moving-average forecasting</a:t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9281160" y="1828800"/>
            <a:ext cx="2286000" cy="2103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9482328" y="1984248"/>
            <a:ext cx="18836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04  OUTCOME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9482328" y="2395728"/>
            <a:ext cx="1883664" cy="138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Less waste, lower cost, data-backed prep quantities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914400" y="4663440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Smart Serve replaces guesswork with a simple, database-backed way to decide how much food to prepare. Staff log daily waste in seconds; the system aggregates history and forecasts tomorrow’s expected waste, turning it into a clear “cook this much less” decision — cutting waste without cutting service quality.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11109960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97687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 txBox="1"/>
          <p:nvPr/>
        </p:nvSpPr>
        <p:spPr>
          <a:xfrm>
            <a:off x="658368" y="146304"/>
            <a:ext cx="118494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HACKORBIT 2K26</a:t>
            </a:r>
            <a:endParaRPr sz="900" b="1" i="0" u="none" strike="noStrike" cap="none">
              <a:solidFill>
                <a:srgbClr val="1491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640080" y="43891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92A46"/>
                </a:solidFill>
                <a:latin typeface="Arial"/>
                <a:ea typeface="Arial"/>
                <a:cs typeface="Arial"/>
                <a:sym typeface="Arial"/>
              </a:rPr>
              <a:t>INNOVATION &amp; USP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658368" y="987552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97687"/>
                </a:solidFill>
                <a:latin typeface="Arial"/>
                <a:ea typeface="Arial"/>
                <a:cs typeface="Arial"/>
                <a:sym typeface="Arial"/>
              </a:rPr>
              <a:t>What makes your solution different?</a:t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731520" y="1508760"/>
            <a:ext cx="2743200" cy="173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932688" y="1664207"/>
            <a:ext cx="23408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SMART FORECASTING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932688" y="2075688"/>
            <a:ext cx="2340864" cy="1024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Moving-average trend forecasting turns logged history into next-meal prep quantities</a:t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4069080" y="1508760"/>
            <a:ext cx="2743200" cy="173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4270248" y="1664207"/>
            <a:ext cx="23408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REAL-TIME</a:t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4270248" y="2075688"/>
            <a:ext cx="2340864" cy="1024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Averages and forecasts update automatically the moment a new entry is logged</a:t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7406640" y="1508760"/>
            <a:ext cx="2743200" cy="173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7607808" y="1664207"/>
            <a:ext cx="23408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COST EFFECTIVE</a:t>
            </a:r>
            <a:endParaRPr/>
          </a:p>
        </p:txBody>
      </p:sp>
      <p:sp>
        <p:nvSpPr>
          <p:cNvPr id="151" name="Google Shape;151;p4"/>
          <p:cNvSpPr txBox="1"/>
          <p:nvPr/>
        </p:nvSpPr>
        <p:spPr>
          <a:xfrm>
            <a:off x="7607808" y="2075688"/>
            <a:ext cx="2340864" cy="1024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Built on Supabase’s free tier + Chart.js — no paid infrastructure required</a:t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2377440" y="3886200"/>
            <a:ext cx="2743200" cy="173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2578608" y="4041648"/>
            <a:ext cx="23408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SCALABLE</a:t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2578608" y="4453128"/>
            <a:ext cx="2340864" cy="1024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Database-backed design keeps forecasts accurate as history and mess count grow</a:t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5715000" y="3886200"/>
            <a:ext cx="2743200" cy="173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5916168" y="4041648"/>
            <a:ext cx="23408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USER FRIENDLY</a:t>
            </a:r>
            <a:endParaRPr/>
          </a:p>
        </p:txBody>
      </p:sp>
      <p:sp>
        <p:nvSpPr>
          <p:cNvPr id="157" name="Google Shape;157;p4"/>
          <p:cNvSpPr txBox="1"/>
          <p:nvPr/>
        </p:nvSpPr>
        <p:spPr>
          <a:xfrm>
            <a:off x="5916168" y="4453128"/>
            <a:ext cx="2340864" cy="1024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A simple daily form — logging waste takes seconds, not minutes</a:t>
            </a:r>
            <a:endParaRPr/>
          </a:p>
        </p:txBody>
      </p:sp>
      <p:sp>
        <p:nvSpPr>
          <p:cNvPr id="159" name="Google Shape;159;p4"/>
          <p:cNvSpPr txBox="1"/>
          <p:nvPr/>
        </p:nvSpPr>
        <p:spPr>
          <a:xfrm>
            <a:off x="11109960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97687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 txBox="1"/>
          <p:nvPr/>
        </p:nvSpPr>
        <p:spPr>
          <a:xfrm>
            <a:off x="658368" y="146304"/>
            <a:ext cx="118494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HACKORBIT 2K26</a:t>
            </a:r>
            <a:endParaRPr sz="900" b="1" i="0" u="none" strike="noStrike" cap="none">
              <a:solidFill>
                <a:srgbClr val="1491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640080" y="43891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92A46"/>
                </a:solidFill>
                <a:latin typeface="Arial"/>
                <a:ea typeface="Arial"/>
                <a:cs typeface="Arial"/>
                <a:sym typeface="Arial"/>
              </a:rPr>
              <a:t>SYSTEM ARCHITECTURE</a:t>
            </a:r>
            <a:endParaRPr/>
          </a:p>
        </p:txBody>
      </p:sp>
      <p:sp>
        <p:nvSpPr>
          <p:cNvPr id="166" name="Google Shape;166;p5"/>
          <p:cNvSpPr txBox="1"/>
          <p:nvPr/>
        </p:nvSpPr>
        <p:spPr>
          <a:xfrm>
            <a:off x="658368" y="987552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97687"/>
                </a:solidFill>
                <a:latin typeface="Arial"/>
                <a:ea typeface="Arial"/>
                <a:cs typeface="Arial"/>
                <a:sym typeface="Arial"/>
              </a:rPr>
              <a:t>Replace the placeholders with your architecture diagram</a:t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731520" y="1417320"/>
            <a:ext cx="2286000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932688" y="1572768"/>
            <a:ext cx="18836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endParaRPr/>
          </a:p>
        </p:txBody>
      </p:sp>
      <p:sp>
        <p:nvSpPr>
          <p:cNvPr id="169" name="Google Shape;169;p5"/>
          <p:cNvSpPr txBox="1"/>
          <p:nvPr/>
        </p:nvSpPr>
        <p:spPr>
          <a:xfrm>
            <a:off x="932688" y="1984248"/>
            <a:ext cx="1883664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Mess Staff (Kitchen)</a:t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3520440" y="1417320"/>
            <a:ext cx="2286000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3721608" y="1572768"/>
            <a:ext cx="18836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/>
          </a:p>
        </p:txBody>
      </p:sp>
      <p:sp>
        <p:nvSpPr>
          <p:cNvPr id="172" name="Google Shape;172;p5"/>
          <p:cNvSpPr txBox="1"/>
          <p:nvPr/>
        </p:nvSpPr>
        <p:spPr>
          <a:xfrm>
            <a:off x="3721608" y="1984248"/>
            <a:ext cx="1883664" cy="446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 dirty="0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React </a:t>
            </a:r>
            <a:r>
              <a:rPr lang="en-US" sz="1150" dirty="0">
                <a:solidFill>
                  <a:srgbClr val="232D3C"/>
                </a:solidFill>
              </a:rPr>
              <a:t>+CSS+HTML</a:t>
            </a:r>
            <a:r>
              <a:rPr lang="en-US" sz="1150" b="0" i="0" u="none" strike="noStrike" cap="none" dirty="0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 waste-entry form &amp; charts</a:t>
            </a:r>
            <a:endParaRPr dirty="0"/>
          </a:p>
        </p:txBody>
      </p:sp>
      <p:sp>
        <p:nvSpPr>
          <p:cNvPr id="173" name="Google Shape;173;p5"/>
          <p:cNvSpPr/>
          <p:nvPr/>
        </p:nvSpPr>
        <p:spPr>
          <a:xfrm>
            <a:off x="6309360" y="1417320"/>
            <a:ext cx="2286000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6510528" y="1572768"/>
            <a:ext cx="18836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/>
          </a:p>
        </p:txBody>
      </p:sp>
      <p:sp>
        <p:nvSpPr>
          <p:cNvPr id="175" name="Google Shape;175;p5"/>
          <p:cNvSpPr txBox="1"/>
          <p:nvPr/>
        </p:nvSpPr>
        <p:spPr>
          <a:xfrm>
            <a:off x="6510528" y="1984248"/>
            <a:ext cx="1883664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Supabase client (JS)</a:t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9098280" y="1417320"/>
            <a:ext cx="2286000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9299448" y="1572768"/>
            <a:ext cx="18836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/>
          </a:p>
        </p:txBody>
      </p:sp>
      <p:sp>
        <p:nvSpPr>
          <p:cNvPr id="178" name="Google Shape;178;p5"/>
          <p:cNvSpPr txBox="1"/>
          <p:nvPr/>
        </p:nvSpPr>
        <p:spPr>
          <a:xfrm>
            <a:off x="9299448" y="1984248"/>
            <a:ext cx="1883664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Supabase PostgreSQL — entries, items, dates</a:t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3520440" y="3657600"/>
            <a:ext cx="2286000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3721608" y="3813048"/>
            <a:ext cx="18836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FORECASTING</a:t>
            </a:r>
            <a:endParaRPr/>
          </a:p>
        </p:txBody>
      </p:sp>
      <p:sp>
        <p:nvSpPr>
          <p:cNvPr id="181" name="Google Shape;181;p5"/>
          <p:cNvSpPr txBox="1"/>
          <p:nvPr/>
        </p:nvSpPr>
        <p:spPr>
          <a:xfrm>
            <a:off x="3721608" y="4224528"/>
            <a:ext cx="1883664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Moving average / trend extrapolation</a:t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6309360" y="3657600"/>
            <a:ext cx="2286000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6510528" y="3813048"/>
            <a:ext cx="18836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VISUALIZATION</a:t>
            </a:r>
            <a:endParaRPr/>
          </a:p>
        </p:txBody>
      </p:sp>
      <p:sp>
        <p:nvSpPr>
          <p:cNvPr id="184" name="Google Shape;184;p5"/>
          <p:cNvSpPr txBox="1"/>
          <p:nvPr/>
        </p:nvSpPr>
        <p:spPr>
          <a:xfrm>
            <a:off x="6510528" y="4224528"/>
            <a:ext cx="1883664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Chart.js trend &amp; forecast charts</a:t>
            </a:r>
            <a:endParaRPr/>
          </a:p>
        </p:txBody>
      </p:sp>
      <p:sp>
        <p:nvSpPr>
          <p:cNvPr id="185" name="Google Shape;185;p5"/>
          <p:cNvSpPr txBox="1"/>
          <p:nvPr/>
        </p:nvSpPr>
        <p:spPr>
          <a:xfrm>
            <a:off x="2926080" y="53492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97687"/>
                </a:solidFill>
                <a:latin typeface="Arial"/>
                <a:ea typeface="Arial"/>
                <a:cs typeface="Arial"/>
                <a:sym typeface="Arial"/>
              </a:rPr>
              <a:t>Data flows: Entry → Storage → Processing → Forecasting → Visualization → Action</a:t>
            </a:r>
            <a:endParaRPr/>
          </a:p>
        </p:txBody>
      </p:sp>
      <p:sp>
        <p:nvSpPr>
          <p:cNvPr id="186" name="Google Shape;186;p5"/>
          <p:cNvSpPr txBox="1"/>
          <p:nvPr/>
        </p:nvSpPr>
        <p:spPr>
          <a:xfrm>
            <a:off x="11109960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97687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"/>
          <p:cNvSpPr txBox="1"/>
          <p:nvPr/>
        </p:nvSpPr>
        <p:spPr>
          <a:xfrm>
            <a:off x="658368" y="146304"/>
            <a:ext cx="118494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HACKORBIT 2K26</a:t>
            </a:r>
            <a:endParaRPr sz="900" b="1" i="0" u="none" strike="noStrike" cap="none">
              <a:solidFill>
                <a:srgbClr val="1491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 txBox="1"/>
          <p:nvPr/>
        </p:nvSpPr>
        <p:spPr>
          <a:xfrm>
            <a:off x="640080" y="43891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92A46"/>
                </a:solidFill>
                <a:latin typeface="Arial"/>
                <a:ea typeface="Arial"/>
                <a:cs typeface="Arial"/>
                <a:sym typeface="Arial"/>
              </a:rPr>
              <a:t>TECHNOLOGY STACK</a:t>
            </a:r>
            <a:endParaRPr/>
          </a:p>
        </p:txBody>
      </p:sp>
      <p:sp>
        <p:nvSpPr>
          <p:cNvPr id="193" name="Google Shape;193;p6"/>
          <p:cNvSpPr txBox="1"/>
          <p:nvPr/>
        </p:nvSpPr>
        <p:spPr>
          <a:xfrm>
            <a:off x="658368" y="987552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97687"/>
                </a:solidFill>
                <a:latin typeface="Arial"/>
                <a:ea typeface="Arial"/>
                <a:cs typeface="Arial"/>
                <a:sym typeface="Arial"/>
              </a:rPr>
              <a:t>Show only technologies actually used</a:t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731520" y="1508760"/>
            <a:ext cx="2743200" cy="173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 txBox="1"/>
          <p:nvPr/>
        </p:nvSpPr>
        <p:spPr>
          <a:xfrm>
            <a:off x="932688" y="1664207"/>
            <a:ext cx="23408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/>
          </a:p>
        </p:txBody>
      </p:sp>
      <p:sp>
        <p:nvSpPr>
          <p:cNvPr id="196" name="Google Shape;196;p6"/>
          <p:cNvSpPr txBox="1"/>
          <p:nvPr/>
        </p:nvSpPr>
        <p:spPr>
          <a:xfrm>
            <a:off x="932688" y="2050783"/>
            <a:ext cx="2340864" cy="62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 dirty="0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React</a:t>
            </a:r>
            <a:br>
              <a:rPr lang="en-US" sz="1150" b="0" i="0" u="none" strike="noStrike" cap="none" dirty="0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50" b="0" i="0" u="none" strike="noStrike" cap="none" dirty="0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br>
              <a:rPr lang="en-US" sz="1150" b="0" i="0" u="none" strike="noStrike" cap="none" dirty="0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50" b="0" i="0" u="none" strike="noStrike" cap="none" dirty="0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dirty="0"/>
          </a:p>
        </p:txBody>
      </p:sp>
      <p:sp>
        <p:nvSpPr>
          <p:cNvPr id="197" name="Google Shape;197;p6"/>
          <p:cNvSpPr/>
          <p:nvPr/>
        </p:nvSpPr>
        <p:spPr>
          <a:xfrm>
            <a:off x="4069080" y="1508760"/>
            <a:ext cx="2743200" cy="173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4270248" y="1664207"/>
            <a:ext cx="23408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/>
          </a:p>
        </p:txBody>
      </p:sp>
      <p:sp>
        <p:nvSpPr>
          <p:cNvPr id="199" name="Google Shape;199;p6"/>
          <p:cNvSpPr txBox="1"/>
          <p:nvPr/>
        </p:nvSpPr>
        <p:spPr>
          <a:xfrm>
            <a:off x="4270248" y="2075688"/>
            <a:ext cx="2340864" cy="1024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 dirty="0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Vanilla JavaScript</a:t>
            </a:r>
            <a:br>
              <a:rPr lang="en-US" sz="1150" b="0" i="0" u="none" strike="noStrike" cap="none" dirty="0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50" b="0" i="0" u="none" strike="noStrike" cap="none" dirty="0" err="1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Supabase</a:t>
            </a:r>
            <a:r>
              <a:rPr lang="en-US" sz="1150" b="0" i="0" u="none" strike="noStrike" cap="none" dirty="0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 client SDK</a:t>
            </a:r>
            <a:endParaRPr dirty="0"/>
          </a:p>
        </p:txBody>
      </p:sp>
      <p:sp>
        <p:nvSpPr>
          <p:cNvPr id="200" name="Google Shape;200;p6"/>
          <p:cNvSpPr/>
          <p:nvPr/>
        </p:nvSpPr>
        <p:spPr>
          <a:xfrm>
            <a:off x="7406640" y="1508760"/>
            <a:ext cx="2743200" cy="173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7607808" y="1664207"/>
            <a:ext cx="23408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/>
          </a:p>
        </p:txBody>
      </p:sp>
      <p:sp>
        <p:nvSpPr>
          <p:cNvPr id="202" name="Google Shape;202;p6"/>
          <p:cNvSpPr txBox="1"/>
          <p:nvPr/>
        </p:nvSpPr>
        <p:spPr>
          <a:xfrm>
            <a:off x="7607808" y="2075688"/>
            <a:ext cx="2340864" cy="1024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Supabase</a:t>
            </a:r>
            <a:b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(PostgreSQL)</a:t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2377440" y="3794760"/>
            <a:ext cx="2743200" cy="173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2578608" y="3950208"/>
            <a:ext cx="23408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FORECASTING</a:t>
            </a:r>
            <a:endParaRPr/>
          </a:p>
        </p:txBody>
      </p:sp>
      <p:sp>
        <p:nvSpPr>
          <p:cNvPr id="205" name="Google Shape;205;p6"/>
          <p:cNvSpPr txBox="1"/>
          <p:nvPr/>
        </p:nvSpPr>
        <p:spPr>
          <a:xfrm>
            <a:off x="2578608" y="4361688"/>
            <a:ext cx="2340864" cy="1024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Moving average</a:t>
            </a:r>
            <a:b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Trend extrapolation</a:t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5715000" y="3794760"/>
            <a:ext cx="2743200" cy="173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5916168" y="3950208"/>
            <a:ext cx="23408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DEPLOYMENT</a:t>
            </a:r>
            <a:endParaRPr/>
          </a:p>
        </p:txBody>
      </p:sp>
      <p:sp>
        <p:nvSpPr>
          <p:cNvPr id="208" name="Google Shape;208;p6"/>
          <p:cNvSpPr txBox="1"/>
          <p:nvPr/>
        </p:nvSpPr>
        <p:spPr>
          <a:xfrm>
            <a:off x="5916168" y="4361688"/>
            <a:ext cx="2340864" cy="48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dirty="0">
                <a:solidFill>
                  <a:srgbClr val="232D3C"/>
                </a:solidFill>
              </a:rPr>
              <a:t>NETLIFY AND GITHUB</a:t>
            </a:r>
            <a:br>
              <a:rPr lang="en-US" sz="1150" b="0" i="0" u="none" strike="noStrike" cap="none" dirty="0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  <p:sp>
        <p:nvSpPr>
          <p:cNvPr id="209" name="Google Shape;209;p6"/>
          <p:cNvSpPr txBox="1"/>
          <p:nvPr/>
        </p:nvSpPr>
        <p:spPr>
          <a:xfrm>
            <a:off x="11109960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97687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"/>
          <p:cNvSpPr txBox="1"/>
          <p:nvPr/>
        </p:nvSpPr>
        <p:spPr>
          <a:xfrm>
            <a:off x="658368" y="146304"/>
            <a:ext cx="118494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HACKORBIT 2K26</a:t>
            </a:r>
            <a:endParaRPr sz="900" b="1" i="0" u="none" strike="noStrike" cap="none">
              <a:solidFill>
                <a:srgbClr val="1491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 txBox="1"/>
          <p:nvPr/>
        </p:nvSpPr>
        <p:spPr>
          <a:xfrm>
            <a:off x="640080" y="438912"/>
            <a:ext cx="1040643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92A46"/>
                </a:solidFill>
                <a:latin typeface="Arial"/>
                <a:ea typeface="Arial"/>
                <a:cs typeface="Arial"/>
                <a:sym typeface="Arial"/>
              </a:rPr>
              <a:t>PROTOTYPE / WORKING MODEL / IMPLEMENTATION PLAN</a:t>
            </a:r>
            <a:endParaRPr sz="2800" b="1" i="0" u="none" strike="noStrike" cap="none">
              <a:solidFill>
                <a:srgbClr val="192A4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"/>
          <p:cNvSpPr txBox="1"/>
          <p:nvPr/>
        </p:nvSpPr>
        <p:spPr>
          <a:xfrm>
            <a:off x="658368" y="987552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97687"/>
                </a:solidFill>
                <a:latin typeface="Arial"/>
                <a:ea typeface="Arial"/>
                <a:cs typeface="Arial"/>
                <a:sym typeface="Arial"/>
              </a:rPr>
              <a:t>Insert screenshots of the actual implementation</a:t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731520" y="1417320"/>
            <a:ext cx="2743200" cy="3474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 txBox="1"/>
          <p:nvPr/>
        </p:nvSpPr>
        <p:spPr>
          <a:xfrm>
            <a:off x="932688" y="1572768"/>
            <a:ext cx="23408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WASTE ENTRY</a:t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4069080" y="1417320"/>
            <a:ext cx="2743200" cy="3474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 txBox="1"/>
          <p:nvPr/>
        </p:nvSpPr>
        <p:spPr>
          <a:xfrm>
            <a:off x="4270248" y="1572768"/>
            <a:ext cx="23408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FORECAST DASHBOARD</a:t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7406640" y="1417320"/>
            <a:ext cx="2743200" cy="3474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 txBox="1"/>
          <p:nvPr/>
        </p:nvSpPr>
        <p:spPr>
          <a:xfrm>
            <a:off x="7607808" y="1572768"/>
            <a:ext cx="23408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TREND CHARTS</a:t>
            </a:r>
            <a:endParaRPr/>
          </a:p>
        </p:txBody>
      </p:sp>
      <p:sp>
        <p:nvSpPr>
          <p:cNvPr id="226" name="Google Shape;226;p7"/>
          <p:cNvSpPr txBox="1"/>
          <p:nvPr/>
        </p:nvSpPr>
        <p:spPr>
          <a:xfrm>
            <a:off x="914400" y="534924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The prototype demonstrates the full loop: staff log daily waste, the system aggregates history and forecasts tomorrow’s expected waste, converting it into a clear next-meal preparation quantity.</a:t>
            </a:r>
            <a:endParaRPr/>
          </a:p>
        </p:txBody>
      </p:sp>
      <p:sp>
        <p:nvSpPr>
          <p:cNvPr id="227" name="Google Shape;227;p7"/>
          <p:cNvSpPr txBox="1"/>
          <p:nvPr/>
        </p:nvSpPr>
        <p:spPr>
          <a:xfrm>
            <a:off x="11109960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97687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19AF00-07F9-8649-C1AB-075AB38E7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193" y="2048256"/>
            <a:ext cx="2303959" cy="25532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4C8EEA-B737-5CEF-4E52-46D0C921B3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7647" y="1908676"/>
            <a:ext cx="1937798" cy="29126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D1B003-BFBE-188C-2A34-B9B3D368EE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1566" y="2112264"/>
            <a:ext cx="1891247" cy="2633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"/>
          <p:cNvSpPr txBox="1"/>
          <p:nvPr/>
        </p:nvSpPr>
        <p:spPr>
          <a:xfrm>
            <a:off x="658368" y="146304"/>
            <a:ext cx="118494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HACKORBIT 2K26</a:t>
            </a:r>
            <a:endParaRPr sz="900" b="1" i="0" u="none" strike="noStrike" cap="none">
              <a:solidFill>
                <a:srgbClr val="1491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8"/>
          <p:cNvSpPr txBox="1"/>
          <p:nvPr/>
        </p:nvSpPr>
        <p:spPr>
          <a:xfrm>
            <a:off x="640080" y="43891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92A46"/>
                </a:solidFill>
                <a:latin typeface="Arial"/>
                <a:ea typeface="Arial"/>
                <a:cs typeface="Arial"/>
                <a:sym typeface="Arial"/>
              </a:rPr>
              <a:t>IMPACT &amp; BENEFITS</a:t>
            </a:r>
            <a:endParaRPr/>
          </a:p>
        </p:txBody>
      </p:sp>
      <p:sp>
        <p:nvSpPr>
          <p:cNvPr id="234" name="Google Shape;234;p8"/>
          <p:cNvSpPr txBox="1"/>
          <p:nvPr/>
        </p:nvSpPr>
        <p:spPr>
          <a:xfrm>
            <a:off x="658368" y="987552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97687"/>
                </a:solidFill>
                <a:latin typeface="Arial"/>
                <a:ea typeface="Arial"/>
                <a:cs typeface="Arial"/>
                <a:sym typeface="Arial"/>
              </a:rPr>
              <a:t>Quantify the expected value wherever possible</a:t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731520" y="1508760"/>
            <a:ext cx="2286000" cy="182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 txBox="1"/>
          <p:nvPr/>
        </p:nvSpPr>
        <p:spPr>
          <a:xfrm>
            <a:off x="932688" y="1664207"/>
            <a:ext cx="18836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Seconds</a:t>
            </a:r>
            <a:endParaRPr/>
          </a:p>
        </p:txBody>
      </p:sp>
      <p:sp>
        <p:nvSpPr>
          <p:cNvPr id="237" name="Google Shape;237;p8"/>
          <p:cNvSpPr txBox="1"/>
          <p:nvPr/>
        </p:nvSpPr>
        <p:spPr>
          <a:xfrm>
            <a:off x="932688" y="2075688"/>
            <a:ext cx="1883664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per waste log entry</a:t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3520440" y="1508760"/>
            <a:ext cx="2286000" cy="182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 txBox="1"/>
          <p:nvPr/>
        </p:nvSpPr>
        <p:spPr>
          <a:xfrm>
            <a:off x="3721608" y="1664207"/>
            <a:ext cx="18836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Lower</a:t>
            </a:r>
            <a:endParaRPr/>
          </a:p>
        </p:txBody>
      </p:sp>
      <p:sp>
        <p:nvSpPr>
          <p:cNvPr id="240" name="Google Shape;240;p8"/>
          <p:cNvSpPr txBox="1"/>
          <p:nvPr/>
        </p:nvSpPr>
        <p:spPr>
          <a:xfrm>
            <a:off x="3721608" y="2075688"/>
            <a:ext cx="1883664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raw-material spend</a:t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6309360" y="1508760"/>
            <a:ext cx="2286000" cy="182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 txBox="1"/>
          <p:nvPr/>
        </p:nvSpPr>
        <p:spPr>
          <a:xfrm>
            <a:off x="6510528" y="1664207"/>
            <a:ext cx="18836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All</a:t>
            </a:r>
            <a:endParaRPr/>
          </a:p>
        </p:txBody>
      </p:sp>
      <p:sp>
        <p:nvSpPr>
          <p:cNvPr id="243" name="Google Shape;243;p8"/>
          <p:cNvSpPr txBox="1"/>
          <p:nvPr/>
        </p:nvSpPr>
        <p:spPr>
          <a:xfrm>
            <a:off x="6510528" y="2075688"/>
            <a:ext cx="1883664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meals covered</a:t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9098280" y="1508760"/>
            <a:ext cx="2286000" cy="182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9299448" y="1664207"/>
            <a:ext cx="18836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24/7</a:t>
            </a:r>
            <a:endParaRPr/>
          </a:p>
        </p:txBody>
      </p:sp>
      <p:sp>
        <p:nvSpPr>
          <p:cNvPr id="246" name="Google Shape;246;p8"/>
          <p:cNvSpPr txBox="1"/>
          <p:nvPr/>
        </p:nvSpPr>
        <p:spPr>
          <a:xfrm>
            <a:off x="9299448" y="2075688"/>
            <a:ext cx="1883664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dashboard access</a:t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1554480" y="3977639"/>
            <a:ext cx="2926080" cy="1508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 txBox="1"/>
          <p:nvPr/>
        </p:nvSpPr>
        <p:spPr>
          <a:xfrm>
            <a:off x="1755648" y="4133087"/>
            <a:ext cx="252374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SOCIAL IMPACT</a:t>
            </a:r>
            <a:endParaRPr/>
          </a:p>
        </p:txBody>
      </p:sp>
      <p:sp>
        <p:nvSpPr>
          <p:cNvPr id="249" name="Google Shape;249;p8"/>
          <p:cNvSpPr txBox="1"/>
          <p:nvPr/>
        </p:nvSpPr>
        <p:spPr>
          <a:xfrm>
            <a:off x="1755648" y="4544568"/>
            <a:ext cx="2523744" cy="795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Less discarded food means less landfill methane and a smaller environmental footprint</a:t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4617720" y="3977639"/>
            <a:ext cx="2926080" cy="1508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 txBox="1"/>
          <p:nvPr/>
        </p:nvSpPr>
        <p:spPr>
          <a:xfrm>
            <a:off x="4818888" y="4133087"/>
            <a:ext cx="252374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ECONOMIC IMPACT</a:t>
            </a:r>
            <a:endParaRPr/>
          </a:p>
        </p:txBody>
      </p:sp>
      <p:sp>
        <p:nvSpPr>
          <p:cNvPr id="252" name="Google Shape;252;p8"/>
          <p:cNvSpPr txBox="1"/>
          <p:nvPr/>
        </p:nvSpPr>
        <p:spPr>
          <a:xfrm>
            <a:off x="4818888" y="4544568"/>
            <a:ext cx="2523744" cy="795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Lower over-preparation cuts raw-material spend, meal after meal</a:t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7680960" y="3977639"/>
            <a:ext cx="2926080" cy="1508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 txBox="1"/>
          <p:nvPr/>
        </p:nvSpPr>
        <p:spPr>
          <a:xfrm>
            <a:off x="7882128" y="4133087"/>
            <a:ext cx="252374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SCALABILITY</a:t>
            </a:r>
            <a:endParaRPr/>
          </a:p>
        </p:txBody>
      </p:sp>
      <p:sp>
        <p:nvSpPr>
          <p:cNvPr id="255" name="Google Shape;255;p8"/>
          <p:cNvSpPr txBox="1"/>
          <p:nvPr/>
        </p:nvSpPr>
        <p:spPr>
          <a:xfrm>
            <a:off x="7882128" y="4544568"/>
            <a:ext cx="2523744" cy="795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Database-backed design keeps forecasts accurate as more meals, items, and history are logged</a:t>
            </a:r>
            <a:endParaRPr/>
          </a:p>
        </p:txBody>
      </p:sp>
      <p:sp>
        <p:nvSpPr>
          <p:cNvPr id="256" name="Google Shape;256;p8"/>
          <p:cNvSpPr txBox="1"/>
          <p:nvPr/>
        </p:nvSpPr>
        <p:spPr>
          <a:xfrm>
            <a:off x="11109960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97687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"/>
          <p:cNvSpPr txBox="1"/>
          <p:nvPr/>
        </p:nvSpPr>
        <p:spPr>
          <a:xfrm>
            <a:off x="658368" y="146304"/>
            <a:ext cx="118494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HACKORBIT 2K26</a:t>
            </a:r>
            <a:endParaRPr sz="900" b="1" i="0" u="none" strike="noStrike" cap="none">
              <a:solidFill>
                <a:srgbClr val="1491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9"/>
          <p:cNvSpPr txBox="1"/>
          <p:nvPr/>
        </p:nvSpPr>
        <p:spPr>
          <a:xfrm>
            <a:off x="640080" y="43891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92A46"/>
                </a:solidFill>
                <a:latin typeface="Arial"/>
                <a:ea typeface="Arial"/>
                <a:cs typeface="Arial"/>
                <a:sym typeface="Arial"/>
              </a:rPr>
              <a:t>FUTURE SCOPE &amp; CONCLUSION</a:t>
            </a:r>
            <a:endParaRPr/>
          </a:p>
        </p:txBody>
      </p:sp>
      <p:sp>
        <p:nvSpPr>
          <p:cNvPr id="263" name="Google Shape;263;p9"/>
          <p:cNvSpPr txBox="1"/>
          <p:nvPr/>
        </p:nvSpPr>
        <p:spPr>
          <a:xfrm>
            <a:off x="658368" y="987552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97687"/>
                </a:solidFill>
                <a:latin typeface="Arial"/>
                <a:ea typeface="Arial"/>
                <a:cs typeface="Arial"/>
                <a:sym typeface="Arial"/>
              </a:rPr>
              <a:t>End with a clear vision</a:t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731520" y="1417320"/>
            <a:ext cx="5212080" cy="3566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 txBox="1"/>
          <p:nvPr/>
        </p:nvSpPr>
        <p:spPr>
          <a:xfrm>
            <a:off x="932688" y="1572768"/>
            <a:ext cx="480974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FUTURE SCOPE</a:t>
            </a:r>
            <a:endParaRPr/>
          </a:p>
        </p:txBody>
      </p:sp>
      <p:sp>
        <p:nvSpPr>
          <p:cNvPr id="266" name="Google Shape;266;p9"/>
          <p:cNvSpPr txBox="1"/>
          <p:nvPr/>
        </p:nvSpPr>
        <p:spPr>
          <a:xfrm>
            <a:off x="932688" y="1984248"/>
            <a:ext cx="4809744" cy="28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Smarter forecasting — seasonal and machine-learning-based models as more data is logged</a:t>
            </a:r>
            <a:b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A dedicated mobile app for faster daily logging from the kitchen floor</a:t>
            </a:r>
            <a:b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Real-time billing integration to auto-populate served quantities</a:t>
            </a:r>
            <a:b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Offline logging support for when there’s no internet connection</a:t>
            </a:r>
            <a:b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• Expand from one mess to multiple institutions</a:t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6217920" y="1417320"/>
            <a:ext cx="5212080" cy="3566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 txBox="1"/>
          <p:nvPr/>
        </p:nvSpPr>
        <p:spPr>
          <a:xfrm>
            <a:off x="6419088" y="1572768"/>
            <a:ext cx="480974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269" name="Google Shape;269;p9"/>
          <p:cNvSpPr txBox="1"/>
          <p:nvPr/>
        </p:nvSpPr>
        <p:spPr>
          <a:xfrm>
            <a:off x="6419088" y="1984248"/>
            <a:ext cx="4809744" cy="28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Smart Serve replaces guesswork with a simple, database-backed way to decide how much food to prepare — cutting waste and cost without cutting service quality. Every future feature builds on the database that’s already logging entries today.</a:t>
            </a:r>
            <a:b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OUR VISION</a:t>
            </a:r>
            <a:b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50" b="0" i="0" u="none" strike="noStrike" cap="none">
                <a:solidFill>
                  <a:srgbClr val="232D3C"/>
                </a:solidFill>
                <a:latin typeface="Arial"/>
                <a:ea typeface="Arial"/>
                <a:cs typeface="Arial"/>
                <a:sym typeface="Arial"/>
              </a:rPr>
              <a:t>A canteen that never over-cooks, because every prep decision is backed by data, not habit.</a:t>
            </a:r>
            <a:endParaRPr/>
          </a:p>
        </p:txBody>
      </p:sp>
      <p:sp>
        <p:nvSpPr>
          <p:cNvPr id="270" name="Google Shape;270;p9"/>
          <p:cNvSpPr txBox="1"/>
          <p:nvPr/>
        </p:nvSpPr>
        <p:spPr>
          <a:xfrm>
            <a:off x="731520" y="544068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4917D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271" name="Google Shape;271;p9"/>
          <p:cNvSpPr txBox="1"/>
          <p:nvPr/>
        </p:nvSpPr>
        <p:spPr>
          <a:xfrm>
            <a:off x="11109960" y="64739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97687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</TotalTime>
  <Words>710</Words>
  <Application>Microsoft Office PowerPoint</Application>
  <PresentationFormat>Widescreen</PresentationFormat>
  <Paragraphs>112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SREHARI</dc:creator>
  <cp:lastModifiedBy>B.S. Srehari</cp:lastModifiedBy>
  <cp:revision>2</cp:revision>
  <dcterms:created xsi:type="dcterms:W3CDTF">2013-01-27T09:14:16Z</dcterms:created>
  <dcterms:modified xsi:type="dcterms:W3CDTF">2026-08-12T03:41:34Z</dcterms:modified>
</cp:coreProperties>
</file>